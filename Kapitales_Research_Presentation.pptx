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FINTECH DIGITAL TRANSFORMATION  •  ENTERPRISE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Trading Checker Project</a:t>
            </a:r>
          </a:p>
          <a:p>
            <a:pPr algn="ctr">
              <a:defRPr sz="2200" b="1">
                <a:solidFill>
                  <a:srgbClr val="2563EB"/>
                </a:solidFill>
              </a:defRPr>
            </a:pPr>
            <a:r>
              <a:t>Next-Gen AI Equity Research &amp; Market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108960"/>
            <a:ext cx="8534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Modernizing retail and institutional equity research across 2,000+ ASX stocks through interactive conversational AI, automated plain-English verdicts, and real-time technical charting.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297680"/>
            <a:ext cx="2560320" cy="14630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400" b="1">
                <a:solidFill>
                  <a:srgbClr val="06B6D4"/>
                </a:solidFill>
              </a:defRPr>
            </a:pPr>
            <a:r>
              <a:t>2,000+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ASX Equities Covered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Institutional-grade daily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4297680"/>
            <a:ext cx="2560320" cy="14630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400" b="1">
                <a:solidFill>
                  <a:srgbClr val="06B6D4"/>
                </a:solidFill>
              </a:defRPr>
            </a:pPr>
            <a:r>
              <a:t>+300%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Active Session Duration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Surged from 2.1 min to 8.4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4297680"/>
            <a:ext cx="2560320" cy="14630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400" b="1">
                <a:solidFill>
                  <a:srgbClr val="06B6D4"/>
                </a:solidFill>
              </a:defRPr>
            </a:pPr>
            <a:r>
              <a:t>+42%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Free-to-Paid Conversion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High-converting interactive AI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CLIENT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Trading Checker: Next-Gen FinTech &amp; Market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Authorised equities research advisory firm based in Sydney, NSW.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12801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🏛️ Corporate Entity &amp; Headquarters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Operating under Nextgen Global Services Pty Ltd (ABN 89 652 632 561), headquartered at Level 13, 465 Victoria Ave, Chatswood, Sydney, NSW, Australia.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120640" cy="12801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⚖️ Regulatory Licensing &amp; Governance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Corporate Authorised Representative (CAR No. 1293674) of Enva Australia Pty Ltd (AFSL 424494). Fully compliant with ASIC general financial product advice frameworks.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5120640" cy="15544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📈 Broad Capital Markets Coverage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Comprehensive research coverage spanning:</a:t>
            </a:r>
            <a:br/>
            <a:r>
              <a:t>• ASX 200 &amp; ASX 300: Blue-chip miners, banks &amp; industrials</a:t>
            </a:r>
            <a:br/>
            <a:r>
              <a:t>• Small Cap Shooters: High-growth emerging micro-caps</a:t>
            </a:r>
            <a:br/>
            <a:r>
              <a:t>• Global Markets: US Equities (NYSE/NASDAQ), TSX (Canada) &amp; India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2103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💼 Specialized Research Subscriptions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Trading Checker monetizes via tiered investment intelligence reports:• Daily Dose: Overnight Wall Street &amp; pre-market ASX briefing• Swing Trades: Momentum setups with technical entry/exit catalysts• Dividend Income: High-yield cash flow compounders with franking credits• Resources &amp; Clean Energy: Critical minerals (lithium, copper, uranium)</a:t>
            </a:r>
            <a:br/>
            <a:r>
              <a:t/>
            </a:r>
            <a:br/>
            <a:r>
              <a:t/>
            </a:r>
            <a:br/>
            <a:r>
              <a:t/>
            </a:r>
            <a:br/>
            <a: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🎯 The Strategic Imperative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Modern retail investors no longer tolerate static 30-page PDF reports sent via email. To scale subscriptions and expand globally, Trading Checker needed an interactive, AI-first platform delivering instant, plain-English answers on demand.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OPERATIONAL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 Core Bottlenecks in Traditional Financial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Static distribution models led to low engagement, analysis paralysis, and platform drop-off.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371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📄 1. The Static PDF Graveyard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Research was trapped in 20-30 page PDF attachments. Low completion rates (&lt;15%), zero mobile responsiveness, and impossible to search on the go.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212080" cy="1371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🧠 2. Analysis Paralysis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Retail investors struggled to decipher complex institutional jargon. Simple questions (*'Should I buy BHP today?'*) were buried in dense disclosures.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5212080" cy="1371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📉 3. Absence of Interactive Tooling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Subscribers read a report on Trading Checker, then left for TradingView or CommSec to check charts, causing severe platform drop-off.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246120"/>
            <a:ext cx="5212080" cy="1371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⚖️ 4. Multi-Stock Comparison Friction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Comparing rival equities (e.g. BHP vs RIO) required toggling separate PDFs and manually matching P/E, yields, and growth metrics.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79"/>
            <a:ext cx="5212080" cy="1371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📁 5. Unstructured Portfolio Monitoring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Subscribers had no way to upload existing holdings to receive tailored alerts, making subscriptions feel generic and impersonal.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54879"/>
            <a:ext cx="5212080" cy="1371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🛡️ 6. Regulatory Disclaimers Overhead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Strict ASIC rules require prominent general advice disclaimers across all touchpoints, creating heavy manual compliance review overhead.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DIGITAL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An AI-First Financial Intelligence &amp; Charting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Transforming a traditional publisher into a real-time, interactive equity research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32918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🤖 'Trading Checker AI' Assistant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Domain-trained conversational stock assistant</a:t>
            </a:r>
            <a:br/>
            <a:r>
              <a:t>• Plain-English answers on 2,000+ ASX codes</a:t>
            </a:r>
            <a:br/>
            <a:r>
              <a:t>• Synthesizes earnings, broker consensus &amp; filings</a:t>
            </a:r>
            <a:br/>
            <a:r>
              <a:t>• Explains technical catalysts &amp; valuation risks</a:t>
            </a:r>
            <a:br/>
            <a:r>
              <a:t>• Embedded general advice compliance guardrails</a:t>
            </a:r>
            <a:br/>
            <a:r>
              <a:t>• 74% of common customer questions automated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32918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📊 Native Technical Charting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Integrated KapChart &amp; KapStudies suite</a:t>
            </a:r>
            <a:br/>
            <a:r>
              <a:t>• Multi-timeframe candlestick &amp; volume bars</a:t>
            </a:r>
            <a:br/>
            <a:r>
              <a:t>• 30+ technical indicators (RSI, MACD, SMA)</a:t>
            </a:r>
            <a:br/>
            <a:r>
              <a:t>• Interactive drawing tools (Fibonacci, channels)</a:t>
            </a:r>
            <a:br/>
            <a:r>
              <a:t>• Zero external platform dependency</a:t>
            </a:r>
            <a:br/>
            <a:r>
              <a:t>• Optimized for mobile touch and desktop displays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383280" cy="32918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⚡ Comparative &amp; Portfolio Tools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Side-by-Side Stock Comparison engine</a:t>
            </a:r>
            <a:br/>
            <a:r>
              <a:t>• AI-generated comparative verdict on peer stocks</a:t>
            </a:r>
            <a:br/>
            <a:r>
              <a:t>• AI Portfolio Snapshot &amp; health check diagnostics</a:t>
            </a:r>
            <a:br/>
            <a:r>
              <a:t>• Sector concentration &amp; over-allocation warnings</a:t>
            </a:r>
            <a:br/>
            <a:r>
              <a:t>• High-converting free trial onboarding funnel</a:t>
            </a:r>
            <a:br/>
            <a:r>
              <a:t>• Tiered subscription access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🏗️ Architecture Foundation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High-performance responsive frontend • Low-latency Market Data API Ingestion • Conversational AI &amp; NLP Reasoning Engine • Relational PostgreSQL + TimeSeries • Cloudflare Zero-Trust Edge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PLATFORM SCREEN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Market Intelligence Gateway &amp; Ticker Ribbon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Immediate market orientation with live ASX tickers, multi-asset search, and lead capture.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13716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🌐 Real-Time Market Orientation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Surfaces live ASX index performance, top daily gainers/losers, commodity indicators, and macroeconomic market wrap-ups.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4114800" cy="1371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🔍 Multi-Asset Universal Search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Instant autocompleting search bar covering ASX stocks, ETFs, mutual funds, and international securities across global exchanges.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4114800" cy="13716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🚀 Free Trial Acquisition Funnel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Prominently placed trial onboarding capturing retail investor leads with seamless verification and zero initial friction.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737360"/>
            <a:ext cx="630936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1737360"/>
            <a:ext cx="6309360" cy="32004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30368" y="182880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76672" y="18288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22976" y="1828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773936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https://app.tradingchecker.com/</a:t>
            </a:r>
          </a:p>
        </p:txBody>
      </p:sp>
      <p:pic>
        <p:nvPicPr>
          <p:cNvPr id="15" name="Picture 14" descr="kapitales_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57400"/>
            <a:ext cx="6309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PLATFORM SCREEN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Trending Securities &amp; Intelligent Discovery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Live categorization of market momentum across companies, research reports, and breaking news.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13716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🔥 Trending Ticker Stream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Dynamically ranks equities experiencing unusual trading volumes, earnings surprises, or rapid price momentum on the ASX.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4114800" cy="1371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📂 Categorized Results Matrix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Search dropdown organizes matches into All, Company Profiles, Analyst Research Reports, and Breaking Market Articles.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4114800" cy="1371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⚡ Sub-Second Query Execution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Client-side caching and debounced API requests deliver instant autocomplete suggestions even on high-latency mobile networks.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737360"/>
            <a:ext cx="630936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1737360"/>
            <a:ext cx="6309360" cy="32004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30368" y="182880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76672" y="18288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22976" y="1828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773936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https://app.tradingchecker.com/#search</a:t>
            </a:r>
          </a:p>
        </p:txBody>
      </p:sp>
      <p:pic>
        <p:nvPicPr>
          <p:cNvPr id="15" name="Picture 14" descr="kapitales_screen_tre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57400"/>
            <a:ext cx="6309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PLATFORM SCREEN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AI Hub &amp; Automated Plain-English Stock Verdicts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Democratizing institutional analysis with conversational AI and clear investment recommendations.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13716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💬 Conversational 'Trading Checker AI'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Investors ask natural-language questions ('Analyze Pilbara Minerals after earnings') and receive structured, data-backed answers in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4114800" cy="1371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📑 Plain-English Verdicts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Deconstructs complex balance sheets into intuitive factor summaries: Valuation, Financial Health, Momentum, and Analyst Ratings.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4114800" cy="13716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🛡️ Compliance Guardrails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Built-in regulatory disclaimers explicitly reiterate general advice warnings while explaining reasoning clearly.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737360"/>
            <a:ext cx="630936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1737360"/>
            <a:ext cx="6309360" cy="32004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30368" y="182880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76672" y="18288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22976" y="1828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773936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https://app.tradingchecker.com/ai-analysis</a:t>
            </a:r>
          </a:p>
        </p:txBody>
      </p:sp>
      <p:pic>
        <p:nvPicPr>
          <p:cNvPr id="15" name="Picture 14" descr="kapitales_screen_ai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57400"/>
            <a:ext cx="6309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PLATFORM SCREEN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Side-by-Side Comparative Stock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Evaluating peer companies head-to-head across valuation, dividends, and growth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13716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⚖️ Peer Comparison Matrix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Pit two or more rival ASX tickers head-to-head (e.g. BHP vs RIO, or CBA vs NAB) to instantly see relative strength.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4114800" cy="1371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📊 Key Financial Metrics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Compares P/E multiples, Dividend Yield, ROE, Debt-to-Equity, 1-year total return, and consensus target price upside.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4114800" cy="13716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🤖 Automated AI Verdict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Synthesizes the financial comparison into a clear AI takeaway: which company offers superior risk-adjusted reward for investors.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737360"/>
            <a:ext cx="630936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1737360"/>
            <a:ext cx="6309360" cy="32004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30368" y="182880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76672" y="18288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22976" y="1828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773936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https://app.tradingchecker.com/compare</a:t>
            </a:r>
          </a:p>
        </p:txBody>
      </p:sp>
      <p:pic>
        <p:nvPicPr>
          <p:cNvPr id="15" name="Picture 14" descr="kapitales_screen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57400"/>
            <a:ext cx="6309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PLATFORM SCREEN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Institutional-Grade Thematic Research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Subscription catalog offering deep-dive coverage of ASX 300, Small Caps, and Critical Minerals.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13716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📚 Tiered Research Catalog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Showcases institutional-grade thematic products: Daily Dose, Swing Trades, Dividend Income, Small Cap Shooters, and ASX 300.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4114800" cy="1371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💎 In-Depth Equity Theses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Each report details corporate business models, revenue drivers, balance sheet health, target price horizons, and key risks.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4114800" cy="13716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🔐 Gated Premium Access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Seamless paywall integration allowing preview excerpts while protecting full actionable recommendations for paying subscribers.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737360"/>
            <a:ext cx="630936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1737360"/>
            <a:ext cx="6309360" cy="32004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30368" y="182880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76672" y="18288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22976" y="1828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773936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https://app.tradingchecker.com/our-products</a:t>
            </a:r>
          </a:p>
        </p:txBody>
      </p:sp>
      <p:pic>
        <p:nvPicPr>
          <p:cNvPr id="15" name="Picture 14" descr="kapitales_screen_re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57400"/>
            <a:ext cx="6309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FUNCTIONAL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 Core FinTech Capabilities Deployed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 unified intelligence suite empowering retail and professional market participants.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2011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01. Conversational AI Assistant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Trading Checker AI processes complex market queries and delivers plain-English answers.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37360"/>
            <a:ext cx="3383280" cy="2011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02. Automated Stock Verdicts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Algorithmic multi-factor screening across 2,000+ ASX tickers with clear recommendations.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737360"/>
            <a:ext cx="3383280" cy="2011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03. AI Portfolio Snapshot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Investors upload holdings to visualize asset allocation, sector risk, and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383280" cy="2011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04. Native Technical Charting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KapChart &amp; KapStudies suite providing multi-timeframe candlestick analysis on-platform.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023360"/>
            <a:ext cx="3383280" cy="2011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05. Side-by-Side Comparator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Head-to-head evaluation of rival stocks across valuation, dividends, and growth.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023360"/>
            <a:ext cx="3383280" cy="2011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06. Regulatory Compliance Hub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Automated insertion of ASIC general advice disclaimers and audit-ready recommendation logs.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CLOUD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Scalable, Compliant FinTech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Engineered for low-latency market data delivery, AI reasoning, and bank-grade security.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1945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⚡ High-Performance Presentation Tier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Responsive Web Application optimized for desktop, tablet, and mobile browsers.</a:t>
            </a:r>
            <a:br/>
            <a:r>
              <a:t>• Asynchronous asset bundling and deferred script execution for sub-second page loads.</a:t>
            </a:r>
            <a:br/>
            <a:r>
              <a:t>• Custom SVG/Canvas charting engine (KapChart) eliminating third-party iframe lags.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21945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🧠 AI Reasoning &amp; Market Data Pipeline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Ingests live ASX pricing feeds, company announcements, and financial statement filings.</a:t>
            </a:r>
            <a:br/>
            <a:r>
              <a:t>• Domain-specific LLM reasoning pipeline generating plain-English investment summaries.</a:t>
            </a:r>
            <a:br/>
            <a:r>
              <a:t>• Financial sentiment scoring and algorithmic valuation factor modeling.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120640" cy="2011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🗄️ Relational &amp; Time-Series Data Store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PostgreSQL database with partitioned time-series tables for historical stock pricing.</a:t>
            </a:r>
            <a:br/>
            <a:r>
              <a:t>• Secure user subscription management, watchlists, and encrypted portfolio holdings.</a:t>
            </a:r>
            <a:br/>
            <a:r>
              <a:t>• Immutable recommendation audit log ensuring strict ASIC compliance recording.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212080" cy="2011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🛡️ Cloudflare Zero-Trust Edge Security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TLS 1.3 end-to-end encryption with global CDN caching for market research reports.</a:t>
            </a:r>
            <a:br/>
            <a:r>
              <a:t>• Advanced DDoS protection, rate-limiting on financial APIs, and CSRF token governance.</a:t>
            </a:r>
            <a:br/>
            <a:r>
              <a:t>• 99.95% platform uptime during volatile market open hours.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MEASURED BUSINESS IMPACT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Transforming Financial Publishing into a Real-Time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81683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The launch of the modernized Trading Checker platform dramatically elevated subscriber engagement, accelerated analyst research output, and scaled subscription conversions.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834640"/>
            <a:ext cx="3200400" cy="14630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200" b="1">
                <a:solidFill>
                  <a:srgbClr val="06B6D4"/>
                </a:solidFill>
              </a:defRPr>
            </a:pPr>
            <a:r>
              <a:t>+300%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Session Duration Growth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Surged from 2.1 minutes to 8.4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834640"/>
            <a:ext cx="3200400" cy="14630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+42%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Trial-to-Paid Conversion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High-converting interactive AI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2834640"/>
            <a:ext cx="3200400" cy="14630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-65%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Research Turnaround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Flash earnings updates in &lt;45 minutes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526280"/>
            <a:ext cx="3200400" cy="14630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200" b="1">
                <a:solidFill>
                  <a:srgbClr val="06B6D4"/>
                </a:solidFill>
              </a:defRPr>
            </a:pPr>
            <a:r>
              <a:t>74%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Inquiries Automated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Resolved instantly by Trading Checker AI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4526280"/>
            <a:ext cx="3200400" cy="14630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61%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Mobile Traffic Share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Grew from 22% via responsive PWA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4526280"/>
            <a:ext cx="3200400" cy="14630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99.95%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Platform Availability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Sub-100ms API response across Australia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621792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Trading Checker Project  •  FinTech Digital Transformation Case 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