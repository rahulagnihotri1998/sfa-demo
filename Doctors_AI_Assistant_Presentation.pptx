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097280"/>
            <a:ext cx="94484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440D"/>
                </a:solidFill>
              </a:defRPr>
            </a:pPr>
            <a:r>
              <a:t>HEALTHCARE TRANSFORMATION  •  ENTERPRISE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645920"/>
            <a:ext cx="9448495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Doctors AI Assistant Service</a:t>
            </a:r>
          </a:p>
          <a:p>
            <a:pPr algn="ctr">
              <a:defRPr sz="2200" b="1">
                <a:solidFill>
                  <a:srgbClr val="14B8A6"/>
                </a:solidFill>
              </a:defRPr>
            </a:pPr>
            <a:r>
              <a:t>Clinical Telemedicine, Pre-Hospital Care &amp; Mobile Health Network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108960"/>
            <a:ext cx="8534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94A3B8"/>
                </a:solidFill>
              </a:defRPr>
            </a:pPr>
            <a:r>
              <a:t>Transforming regional healthcare delivery across North &amp; Central India through AI clinical decision support, connected mobile health vans, real-time vital streams, and centralized MIS health records.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011680" y="4297680"/>
            <a:ext cx="2560320" cy="1463040"/>
          </a:xfrm>
          <a:prstGeom prst="roundRect">
            <a:avLst/>
          </a:prstGeom>
          <a:solidFill>
            <a:srgbClr val="14203C"/>
          </a:solidFill>
          <a:ln w="19050">
            <a:solidFill>
              <a:srgbClr val="FF44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/>
          <a:lstStyle/>
          <a:p>
            <a:pPr algn="ctr">
              <a:defRPr sz="2400" b="1">
                <a:solidFill>
                  <a:srgbClr val="FF440D"/>
                </a:solidFill>
              </a:defRPr>
            </a:pPr>
            <a:r>
              <a:t>500,000+</a:t>
            </a:r>
          </a:p>
          <a:p>
            <a:pPr algn="ctr">
              <a:defRPr sz="1100" b="1">
                <a:solidFill>
                  <a:srgbClr val="FFFFFF"/>
                </a:solidFill>
              </a:defRPr>
            </a:pPr>
            <a:r>
              <a:t>Community Members Served</a:t>
            </a:r>
          </a:p>
          <a:p>
            <a:pPr algn="ctr">
              <a:defRPr sz="900">
                <a:solidFill>
                  <a:srgbClr val="94A3B8"/>
                </a:solidFill>
              </a:defRPr>
            </a:pPr>
            <a:r>
              <a:t>Across UP, Bihar &amp; Jharkhand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46320" y="4297680"/>
            <a:ext cx="2560320" cy="1463040"/>
          </a:xfrm>
          <a:prstGeom prst="roundRect">
            <a:avLst/>
          </a:prstGeom>
          <a:solidFill>
            <a:srgbClr val="14203C"/>
          </a:solidFill>
          <a:ln w="19050">
            <a:solidFill>
              <a:srgbClr val="FF44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/>
          <a:lstStyle/>
          <a:p>
            <a:pPr algn="ctr">
              <a:defRPr sz="2400" b="1">
                <a:solidFill>
                  <a:srgbClr val="FF440D"/>
                </a:solidFill>
              </a:defRPr>
            </a:pPr>
            <a:r>
              <a:t>&lt; 8 Min</a:t>
            </a:r>
          </a:p>
          <a:p>
            <a:pPr algn="ctr">
              <a:defRPr sz="1100" b="1">
                <a:solidFill>
                  <a:srgbClr val="FFFFFF"/>
                </a:solidFill>
              </a:defRPr>
            </a:pPr>
            <a:r>
              <a:t>Tele-Triage Response</a:t>
            </a:r>
          </a:p>
          <a:p>
            <a:pPr algn="ctr">
              <a:defRPr sz="900">
                <a:solidFill>
                  <a:srgbClr val="94A3B8"/>
                </a:solidFill>
              </a:defRPr>
            </a:pPr>
            <a:r>
              <a:t>Down from 45 min previously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80960" y="4297680"/>
            <a:ext cx="2560320" cy="1463040"/>
          </a:xfrm>
          <a:prstGeom prst="roundRect">
            <a:avLst/>
          </a:prstGeom>
          <a:solidFill>
            <a:srgbClr val="14203C"/>
          </a:solidFill>
          <a:ln w="19050">
            <a:solidFill>
              <a:srgbClr val="FF44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/>
          <a:lstStyle/>
          <a:p>
            <a:pPr algn="ctr">
              <a:defRPr sz="2400" b="1">
                <a:solidFill>
                  <a:srgbClr val="FF440D"/>
                </a:solidFill>
              </a:defRPr>
            </a:pPr>
            <a:r>
              <a:t>+60%</a:t>
            </a:r>
          </a:p>
          <a:p>
            <a:pPr algn="ctr">
              <a:defRPr sz="1100" b="1">
                <a:solidFill>
                  <a:srgbClr val="FFFFFF"/>
                </a:solidFill>
              </a:defRPr>
            </a:pPr>
            <a:r>
              <a:t>Doctor Capacity Uplift</a:t>
            </a:r>
          </a:p>
          <a:p>
            <a:pPr algn="ctr">
              <a:defRPr sz="900">
                <a:solidFill>
                  <a:srgbClr val="94A3B8"/>
                </a:solidFill>
              </a:defRPr>
            </a:pPr>
            <a:r>
              <a:t>Automated clinical transcription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FF440D"/>
                </a:solidFill>
              </a:defRPr>
            </a:pPr>
            <a:r>
              <a:t>OPERATIONAL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Regional Healthcare Ecosystem &amp; Reach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Deploying specialist-level clinical guidance directly to rural and semi-urban communities.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120640" cy="1280160"/>
          </a:xfrm>
          <a:prstGeom prst="roundRect">
            <a:avLst/>
          </a:prstGeom>
          <a:solidFill>
            <a:srgbClr val="14203C"/>
          </a:solidFill>
          <a:ln w="12700">
            <a:solidFill>
              <a:srgbClr val="2637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64592" bIns="137160"/>
          <a:lstStyle/>
          <a:p>
            <a:pPr algn="ctr">
              <a:spcAft>
                <a:spcPts val="400"/>
              </a:spcAft>
              <a:defRPr sz="1300" b="1">
                <a:solidFill>
                  <a:srgbClr val="FFFFFF"/>
                </a:solidFill>
              </a:defRPr>
            </a:pPr>
            <a:r>
              <a:t>🏥 Comprehensive Service Delivery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Delivering primary healthcare camps, maternal &amp; child health checkups, preventive screenings, mobile medical vans, and emergency tele-triage across underserved districts.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200400"/>
            <a:ext cx="5120640" cy="1280160"/>
          </a:xfrm>
          <a:prstGeom prst="roundRect">
            <a:avLst/>
          </a:prstGeom>
          <a:solidFill>
            <a:srgbClr val="14203C"/>
          </a:solidFill>
          <a:ln w="12700">
            <a:solidFill>
              <a:srgbClr val="2637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64592" bIns="137160"/>
          <a:lstStyle/>
          <a:p>
            <a:pPr algn="ctr">
              <a:spcAft>
                <a:spcPts val="400"/>
              </a:spcAft>
              <a:defRPr sz="1300" b="1">
                <a:solidFill>
                  <a:srgbClr val="FFFFFF"/>
                </a:solidFill>
              </a:defRPr>
            </a:pPr>
            <a:r>
              <a:t>🌍 Geographic Footprint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Active clinical outreach across Uttar Pradesh (central operating hub in Lucknow), Bihar, and Jharkhand, connecting primary clinics with tertiary referral hospitals.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663440"/>
            <a:ext cx="5120640" cy="1554480"/>
          </a:xfrm>
          <a:prstGeom prst="roundRect">
            <a:avLst/>
          </a:prstGeom>
          <a:solidFill>
            <a:srgbClr val="14203C"/>
          </a:solidFill>
          <a:ln w="12700">
            <a:solidFill>
              <a:srgbClr val="2637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64592" bIns="137160"/>
          <a:lstStyle/>
          <a:p>
            <a:pPr algn="ctr">
              <a:spcAft>
                <a:spcPts val="400"/>
              </a:spcAft>
              <a:defRPr sz="1300" b="1">
                <a:solidFill>
                  <a:srgbClr val="FFFFFF"/>
                </a:solidFill>
              </a:defRPr>
            </a:pPr>
            <a:r>
              <a:t>💻 Connected Digital Infrastructure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Unified health portal ecosystem:</a:t>
            </a:r>
            <a:br/>
            <a:r>
              <a:t>• Tele-Consultation Gateway: Real-time video &amp; vitals link</a:t>
            </a:r>
            <a:br/>
            <a:r>
              <a:t>• Enterprise MIS: Centralized longitudinal patient EHR &amp; reports</a:t>
            </a:r>
            <a:br/>
            <a:r>
              <a:t>• Clinical LMS: Paramedic training and triage certification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37360"/>
            <a:ext cx="5212080" cy="2103120"/>
          </a:xfrm>
          <a:prstGeom prst="roundRect">
            <a:avLst/>
          </a:prstGeom>
          <a:solidFill>
            <a:srgbClr val="14203C"/>
          </a:solidFill>
          <a:ln w="19050">
            <a:solidFill>
              <a:srgbClr val="FF44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64592" bIns="137160"/>
          <a:lstStyle/>
          <a:p>
            <a:pPr algn="ctr">
              <a:spcAft>
                <a:spcPts val="400"/>
              </a:spcAft>
              <a:defRPr sz="1300" b="1">
                <a:solidFill>
                  <a:srgbClr val="FFFFFF"/>
                </a:solidFill>
              </a:defRPr>
            </a:pPr>
            <a:r>
              <a:t>⚠️ The Clinical Access Deficit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In target operating districts, the patient-to-doctor ratio exceeds 1:5,000 (far above the WHO recommended 1:1,000 threshold).</a:t>
            </a:r>
            <a:br/>
            <a:br/>
            <a:r>
              <a:t>Specialists are clustered in metropolitan tertiary hospitals, forcing patients to travel 50-100 km for basic second opinions or delay treatment until conditions become critical emergencies.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4023360"/>
            <a:ext cx="5212080" cy="2194560"/>
          </a:xfrm>
          <a:prstGeom prst="roundRect">
            <a:avLst/>
          </a:prstGeom>
          <a:solidFill>
            <a:srgbClr val="14203C"/>
          </a:solidFill>
          <a:ln w="1905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64592" bIns="137160"/>
          <a:lstStyle/>
          <a:p>
            <a:pPr algn="ctr">
              <a:spcAft>
                <a:spcPts val="400"/>
              </a:spcAft>
              <a:defRPr sz="1300" b="1">
                <a:solidFill>
                  <a:srgbClr val="FFFFFF"/>
                </a:solidFill>
              </a:defRPr>
            </a:pPr>
            <a:r>
              <a:t>🎯 The Strategic Mission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Deploy the Doctors AI Assistant Service to provide frontline health workers with instant clinical decision support, automate physician documentation, and stream real-time vitals during pre-hospital transit.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FF440D"/>
                </a:solidFill>
              </a:defRPr>
            </a:pPr>
            <a:r>
              <a:t>CLINICAL BOTTLENECKS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6 Core Challenges in Regional Healthcare Delivery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Frontline barriers delaying emergency stabilization and creating doctor burnout.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212080" cy="1371600"/>
          </a:xfrm>
          <a:prstGeom prst="roundRect">
            <a:avLst/>
          </a:prstGeom>
          <a:solidFill>
            <a:srgbClr val="14203C"/>
          </a:solidFill>
          <a:ln w="12700">
            <a:solidFill>
              <a:srgbClr val="2637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64592" bIns="137160"/>
          <a:lstStyle/>
          <a:p>
            <a:pPr algn="ctr">
              <a:spcAft>
                <a:spcPts val="400"/>
              </a:spcAft>
              <a:defRPr sz="1300" b="1">
                <a:solidFill>
                  <a:srgbClr val="FFFFFF"/>
                </a:solidFill>
              </a:defRPr>
            </a:pPr>
            <a:r>
              <a:t>👨‍⚕️ 1. Acute Specialist Deficit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Specialist doctors concentrated in distant cities; village clinics and camps have zero on-site access to cardiology or pediatric expertise.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737360"/>
            <a:ext cx="5212080" cy="1371600"/>
          </a:xfrm>
          <a:prstGeom prst="roundRect">
            <a:avLst/>
          </a:prstGeom>
          <a:solidFill>
            <a:srgbClr val="14203C"/>
          </a:solidFill>
          <a:ln w="12700">
            <a:solidFill>
              <a:srgbClr val="2637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64592" bIns="137160"/>
          <a:lstStyle/>
          <a:p>
            <a:pPr algn="ctr">
              <a:spcAft>
                <a:spcPts val="400"/>
              </a:spcAft>
              <a:defRPr sz="1300" b="1">
                <a:solidFill>
                  <a:srgbClr val="FFFFFF"/>
                </a:solidFill>
              </a:defRPr>
            </a:pPr>
            <a:r>
              <a:t>🚑 2. Pre-Hospital Triage Delays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Ambulances and mobile vans lacked real-time doctor connectivity, leading to lost critical interventions during the 'golden hour'.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246120"/>
            <a:ext cx="5212080" cy="1371600"/>
          </a:xfrm>
          <a:prstGeom prst="roundRect">
            <a:avLst/>
          </a:prstGeom>
          <a:solidFill>
            <a:srgbClr val="14203C"/>
          </a:solidFill>
          <a:ln w="12700">
            <a:solidFill>
              <a:srgbClr val="2637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64592" bIns="137160"/>
          <a:lstStyle/>
          <a:p>
            <a:pPr algn="ctr">
              <a:spcAft>
                <a:spcPts val="400"/>
              </a:spcAft>
              <a:defRPr sz="1300" b="1">
                <a:solidFill>
                  <a:srgbClr val="FFFFFF"/>
                </a:solidFill>
              </a:defRPr>
            </a:pPr>
            <a:r>
              <a:t>📋 3. Fragmented Paper Registers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Disconnected paper slips at mobile camps with zero patient history, causing dangerous drug interactions and lost follow-up care.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3246120"/>
            <a:ext cx="5212080" cy="1371600"/>
          </a:xfrm>
          <a:prstGeom prst="roundRect">
            <a:avLst/>
          </a:prstGeom>
          <a:solidFill>
            <a:srgbClr val="14203C"/>
          </a:solidFill>
          <a:ln w="12700">
            <a:solidFill>
              <a:srgbClr val="2637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64592" bIns="137160"/>
          <a:lstStyle/>
          <a:p>
            <a:pPr algn="ctr">
              <a:spcAft>
                <a:spcPts val="400"/>
              </a:spcAft>
              <a:defRPr sz="1300" b="1">
                <a:solidFill>
                  <a:srgbClr val="FFFFFF"/>
                </a:solidFill>
              </a:defRPr>
            </a:pPr>
            <a:r>
              <a:t>⏳ 4. Physician Cognitive Burnout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Doctors spent over 50% of consultation time typing notes and recording vitals, resulting in rushed 2-minute clinical exams.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754879"/>
            <a:ext cx="5212080" cy="1371600"/>
          </a:xfrm>
          <a:prstGeom prst="roundRect">
            <a:avLst/>
          </a:prstGeom>
          <a:solidFill>
            <a:srgbClr val="14203C"/>
          </a:solidFill>
          <a:ln w="12700">
            <a:solidFill>
              <a:srgbClr val="2637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64592" bIns="137160"/>
          <a:lstStyle/>
          <a:p>
            <a:pPr algn="ctr">
              <a:spcAft>
                <a:spcPts val="400"/>
              </a:spcAft>
              <a:defRPr sz="1300" b="1">
                <a:solidFill>
                  <a:srgbClr val="FFFFFF"/>
                </a:solidFill>
              </a:defRPr>
            </a:pPr>
            <a:r>
              <a:t>🧪 5. Diagnostic &amp; Lab Latency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Basic pathology tests took 3–5 days to process through distant centralized labs; patients often never returned for results.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4754879"/>
            <a:ext cx="5212080" cy="1371600"/>
          </a:xfrm>
          <a:prstGeom prst="roundRect">
            <a:avLst/>
          </a:prstGeom>
          <a:solidFill>
            <a:srgbClr val="14203C"/>
          </a:solidFill>
          <a:ln w="12700">
            <a:solidFill>
              <a:srgbClr val="2637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64592" bIns="137160"/>
          <a:lstStyle/>
          <a:p>
            <a:pPr algn="ctr">
              <a:spcAft>
                <a:spcPts val="400"/>
              </a:spcAft>
              <a:defRPr sz="1300" b="1">
                <a:solidFill>
                  <a:srgbClr val="FFFFFF"/>
                </a:solidFill>
              </a:defRPr>
            </a:pPr>
            <a:r>
              <a:t>📚 6. Frontline Protocol Gaps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Paramedics and health workers had inconsistent triage training, causing unnecessary hospital transfers or missed high-risk cases.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FF440D"/>
                </a:solidFill>
              </a:defRPr>
            </a:pPr>
            <a:r>
              <a:t>IMPLEMENTED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Doctors AI Assistant: Comprehensive Clinical Ecosystem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An integrated telehealth architecture bridging frontline field teams and consulting doctors.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3383280" cy="3291840"/>
          </a:xfrm>
          <a:prstGeom prst="roundRect">
            <a:avLst/>
          </a:prstGeom>
          <a:solidFill>
            <a:srgbClr val="14203C"/>
          </a:solidFill>
          <a:ln w="19050">
            <a:solidFill>
              <a:srgbClr val="FF44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64592" bIns="137160"/>
          <a:lstStyle/>
          <a:p>
            <a:pPr algn="ctr">
              <a:spcAft>
                <a:spcPts val="400"/>
              </a:spcAft>
              <a:defRPr sz="1300" b="1">
                <a:solidFill>
                  <a:srgbClr val="FFFFFF"/>
                </a:solidFill>
              </a:defRPr>
            </a:pPr>
            <a:r>
              <a:t>🤖 AI Clinical Decision Support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• Symptom triage &amp; differential diagnosis</a:t>
            </a:r>
            <a:br/>
            <a:r>
              <a:t>• Green / Yellow / Red risk stratification</a:t>
            </a:r>
            <a:br/>
            <a:r>
              <a:t>• Automated red-flag emergency detection</a:t>
            </a:r>
            <a:br/>
            <a:r>
              <a:t>• Hands-free speech-to-text dictation</a:t>
            </a:r>
            <a:br/>
            <a:r>
              <a:t>• Multi-dialect Indian medical models</a:t>
            </a:r>
            <a:br/>
            <a:r>
              <a:t>• Auto-formatted standardized SOAP notes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737360"/>
            <a:ext cx="3383280" cy="3291840"/>
          </a:xfrm>
          <a:prstGeom prst="roundRect">
            <a:avLst/>
          </a:prstGeom>
          <a:solidFill>
            <a:srgbClr val="14203C"/>
          </a:solidFill>
          <a:ln w="1905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64592" bIns="137160"/>
          <a:lstStyle/>
          <a:p>
            <a:pPr algn="ctr">
              <a:spcAft>
                <a:spcPts val="400"/>
              </a:spcAft>
              <a:defRPr sz="1300" b="1">
                <a:solidFill>
                  <a:srgbClr val="FFFFFF"/>
                </a:solidFill>
              </a:defRPr>
            </a:pPr>
            <a:r>
              <a:t>🩺 Connected Point-of-Care Vitals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• Bluetooth/USB vital collection kits</a:t>
            </a:r>
            <a:br/>
            <a:r>
              <a:t>• Live streaming 6-lead ECG &amp; SpO2</a:t>
            </a:r>
            <a:br/>
            <a:r>
              <a:t>• Digital stethoscope audio transmission</a:t>
            </a:r>
            <a:br/>
            <a:r>
              <a:t>• Blood pressure &amp; glucose monitoring</a:t>
            </a:r>
            <a:br/>
            <a:r>
              <a:t>• Consulting doctor sees live waveforms</a:t>
            </a:r>
            <a:br/>
            <a:r>
              <a:t>• Test turnaround reduced to &lt;15 min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737360"/>
            <a:ext cx="3383280" cy="3291840"/>
          </a:xfrm>
          <a:prstGeom prst="roundRect">
            <a:avLst/>
          </a:prstGeom>
          <a:solidFill>
            <a:srgbClr val="14203C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64592" bIns="137160"/>
          <a:lstStyle/>
          <a:p>
            <a:pPr algn="ctr">
              <a:spcAft>
                <a:spcPts val="400"/>
              </a:spcAft>
              <a:defRPr sz="1300" b="1">
                <a:solidFill>
                  <a:srgbClr val="FFFFFF"/>
                </a:solidFill>
              </a:defRPr>
            </a:pPr>
            <a:r>
              <a:t>🚐 Connected Mobile Health Vans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• GPS-tracked mobile clinic deployment</a:t>
            </a:r>
            <a:br/>
            <a:r>
              <a:t>• Onboard diagnostic screening units</a:t>
            </a:r>
            <a:br/>
            <a:r>
              <a:t>• Low-bandwidth cloud sync to central MIS</a:t>
            </a:r>
            <a:br/>
            <a:r>
              <a:t>• 1-click tertiary hospital referral dispatch</a:t>
            </a:r>
            <a:br/>
            <a:r>
              <a:t>• Pre-arrival hospital emergency alerts</a:t>
            </a:r>
            <a:br/>
            <a:r>
              <a:t>• Centralized staff LMS training portal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212080"/>
            <a:ext cx="10698480" cy="1051560"/>
          </a:xfrm>
          <a:prstGeom prst="roundRect">
            <a:avLst/>
          </a:prstGeom>
          <a:solidFill>
            <a:srgbClr val="14203C"/>
          </a:solidFill>
          <a:ln w="19050">
            <a:solidFill>
              <a:srgbClr val="2637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64592" bIns="137160"/>
          <a:lstStyle/>
          <a:p>
            <a:pPr algn="ctr">
              <a:spcAft>
                <a:spcPts val="400"/>
              </a:spcAft>
              <a:defRPr sz="1300" b="1">
                <a:solidFill>
                  <a:srgbClr val="FFFFFF"/>
                </a:solidFill>
              </a:defRPr>
            </a:pPr>
            <a:r>
              <a:t>🏗️ Enterprise Healthcare Infrastructure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Telemedicine WebRTC Gateway • Enterprise Patient MIS (EHR) • Staff LMS Training Portal • Point-of-Care Diagnostic API Ingestion • Encrypted HIPAA/ABHA Compliant Cloud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FF440D"/>
                </a:solidFill>
              </a:defRPr>
            </a:pPr>
            <a:r>
              <a:t>PLATFORM SCREEN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Healthcare Gateway &amp; Service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Central portal providing emergency response, telemedicine triggers, and portal navigation.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4114800" cy="1371600"/>
          </a:xfrm>
          <a:prstGeom prst="roundRect">
            <a:avLst/>
          </a:prstGeom>
          <a:solidFill>
            <a:srgbClr val="14203C"/>
          </a:solidFill>
          <a:ln w="19050">
            <a:solidFill>
              <a:srgbClr val="FF44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64592" bIns="137160"/>
          <a:lstStyle/>
          <a:p>
            <a:pPr algn="ctr">
              <a:spcAft>
                <a:spcPts val="400"/>
              </a:spcAft>
              <a:defRPr sz="1300" b="1">
                <a:solidFill>
                  <a:srgbClr val="FFFFFF"/>
                </a:solidFill>
              </a:defRPr>
            </a:pPr>
            <a:r>
              <a:t>🚑 24/7 Pre-Hospital Emergency Response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Immediate callout for emergency ambulance dispatch, medical assistance, and pre-hospital tele-consultation.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291840"/>
            <a:ext cx="4114800" cy="1371600"/>
          </a:xfrm>
          <a:prstGeom prst="roundRect">
            <a:avLst/>
          </a:prstGeom>
          <a:solidFill>
            <a:srgbClr val="14203C"/>
          </a:solidFill>
          <a:ln w="12700">
            <a:solidFill>
              <a:srgbClr val="2637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64592" bIns="137160"/>
          <a:lstStyle/>
          <a:p>
            <a:pPr algn="ctr">
              <a:spcAft>
                <a:spcPts val="400"/>
              </a:spcAft>
              <a:defRPr sz="1300" b="1">
                <a:solidFill>
                  <a:srgbClr val="FFFFFF"/>
                </a:solidFill>
              </a:defRPr>
            </a:pPr>
            <a:r>
              <a:t>🔗 Integrated Healthcare Administration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Direct navigation into the Enterprise MIS (patient EHR records) and Clinical LMS (medical training certification).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846320"/>
            <a:ext cx="4114800" cy="1371600"/>
          </a:xfrm>
          <a:prstGeom prst="roundRect">
            <a:avLst/>
          </a:prstGeom>
          <a:solidFill>
            <a:srgbClr val="14203C"/>
          </a:solidFill>
          <a:ln w="1905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64592" bIns="137160"/>
          <a:lstStyle/>
          <a:p>
            <a:pPr algn="ctr">
              <a:spcAft>
                <a:spcPts val="400"/>
              </a:spcAft>
              <a:defRPr sz="1300" b="1">
                <a:solidFill>
                  <a:srgbClr val="FFFFFF"/>
                </a:solidFill>
              </a:defRPr>
            </a:pPr>
            <a:r>
              <a:t>🌐 Community Health Access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Centralized digital access connecting rural clinics, community health camps, and district medical centers.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20640" y="1737360"/>
            <a:ext cx="6309360" cy="448056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FF44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120640" y="1737360"/>
            <a:ext cx="6309360" cy="32004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230368" y="1828800"/>
            <a:ext cx="109728" cy="109728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376672" y="1828800"/>
            <a:ext cx="109728" cy="10972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522976" y="1828800"/>
            <a:ext cx="109728" cy="10972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60720" y="1773936"/>
            <a:ext cx="55778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94A3B8"/>
                </a:solidFill>
              </a:defRPr>
            </a:pPr>
            <a:r>
              <a:t>https://sankatmochan.co.in/</a:t>
            </a:r>
          </a:p>
        </p:txBody>
      </p:sp>
      <p:pic>
        <p:nvPicPr>
          <p:cNvPr id="15" name="Picture 14" descr="doctors_ai_screen_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2057400"/>
            <a:ext cx="6309360" cy="41605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FF440D"/>
                </a:solidFill>
              </a:defRPr>
            </a:pPr>
            <a:r>
              <a:t>PLATFORM SCREEN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Healthcare Programmes &amp; Services 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Modular continuum of care spanning preventive screenings, maternal health, and mobile clinics.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4114800" cy="1371600"/>
          </a:xfrm>
          <a:prstGeom prst="roundRect">
            <a:avLst/>
          </a:prstGeom>
          <a:solidFill>
            <a:srgbClr val="14203C"/>
          </a:solidFill>
          <a:ln w="1905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64592" bIns="137160"/>
          <a:lstStyle/>
          <a:p>
            <a:pPr algn="ctr">
              <a:spcAft>
                <a:spcPts val="400"/>
              </a:spcAft>
              <a:defRPr sz="1300" b="1">
                <a:solidFill>
                  <a:srgbClr val="FFFFFF"/>
                </a:solidFill>
              </a:defRPr>
            </a:pPr>
            <a:r>
              <a:t>📋 Comprehensive Care Catalog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Covers Pre-Hospital Care, Primary Health Camps, Maternal &amp; Child Health, Preventive Screenings, and Mobile Vans.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291840"/>
            <a:ext cx="4114800" cy="1371600"/>
          </a:xfrm>
          <a:prstGeom prst="roundRect">
            <a:avLst/>
          </a:prstGeom>
          <a:solidFill>
            <a:srgbClr val="14203C"/>
          </a:solidFill>
          <a:ln w="12700">
            <a:solidFill>
              <a:srgbClr val="2637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64592" bIns="137160"/>
          <a:lstStyle/>
          <a:p>
            <a:pPr algn="ctr">
              <a:spcAft>
                <a:spcPts val="400"/>
              </a:spcAft>
              <a:defRPr sz="1300" b="1">
                <a:solidFill>
                  <a:srgbClr val="FFFFFF"/>
                </a:solidFill>
              </a:defRPr>
            </a:pPr>
            <a:r>
              <a:t>💊 Pharmacy &amp; Diagnostics Integration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Centralized coordination for essential medication dispensing and rapid point-of-care laboratory diagnostics.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846320"/>
            <a:ext cx="4114800" cy="1371600"/>
          </a:xfrm>
          <a:prstGeom prst="roundRect">
            <a:avLst/>
          </a:prstGeom>
          <a:solidFill>
            <a:srgbClr val="14203C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64592" bIns="137160"/>
          <a:lstStyle/>
          <a:p>
            <a:pPr algn="ctr">
              <a:spcAft>
                <a:spcPts val="400"/>
              </a:spcAft>
              <a:defRPr sz="1300" b="1">
                <a:solidFill>
                  <a:srgbClr val="FFFFFF"/>
                </a:solidFill>
              </a:defRPr>
            </a:pPr>
            <a:r>
              <a:t>🧠 Mental Health &amp; Wellness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Integrated tele-counselling workflows addressing mental health awareness and psychosocial community support.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20640" y="1737360"/>
            <a:ext cx="6309360" cy="448056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FF44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120640" y="1737360"/>
            <a:ext cx="6309360" cy="32004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230368" y="1828800"/>
            <a:ext cx="109728" cy="109728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376672" y="1828800"/>
            <a:ext cx="109728" cy="10972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522976" y="1828800"/>
            <a:ext cx="109728" cy="10972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60720" y="1773936"/>
            <a:ext cx="55778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94A3B8"/>
                </a:solidFill>
              </a:defRPr>
            </a:pPr>
            <a:r>
              <a:t>https://sankatmochan.co.in/#services</a:t>
            </a:r>
          </a:p>
        </p:txBody>
      </p:sp>
      <p:pic>
        <p:nvPicPr>
          <p:cNvPr id="15" name="Picture 14" descr="doctors_ai_screen_servi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2057400"/>
            <a:ext cx="6309360" cy="41605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FF440D"/>
                </a:solidFill>
              </a:defRPr>
            </a:pPr>
            <a:r>
              <a:t>PLATFORM SCREEN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Institutional Mission &amp; Community Healthcare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Democratizing healthcare access across underserved districts in UP, Bihar, and Jharkhand.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4114800" cy="1371600"/>
          </a:xfrm>
          <a:prstGeom prst="roundRect">
            <a:avLst/>
          </a:prstGeom>
          <a:solidFill>
            <a:srgbClr val="14203C"/>
          </a:solidFill>
          <a:ln w="19050">
            <a:solidFill>
              <a:srgbClr val="FF44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64592" bIns="137160"/>
          <a:lstStyle/>
          <a:p>
            <a:pPr algn="ctr">
              <a:spcAft>
                <a:spcPts val="400"/>
              </a:spcAft>
              <a:defRPr sz="1300" b="1">
                <a:solidFill>
                  <a:srgbClr val="FFFFFF"/>
                </a:solidFill>
              </a:defRPr>
            </a:pPr>
            <a:r>
              <a:t>🎯 Healthcare Equity Mission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Delivering high-quality, doctor-guided medical consultations to rural families, elderly patients, and vulnerable communities.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291840"/>
            <a:ext cx="4114800" cy="1371600"/>
          </a:xfrm>
          <a:prstGeom prst="roundRect">
            <a:avLst/>
          </a:prstGeom>
          <a:solidFill>
            <a:srgbClr val="14203C"/>
          </a:solidFill>
          <a:ln w="12700">
            <a:solidFill>
              <a:srgbClr val="2637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64592" bIns="137160"/>
          <a:lstStyle/>
          <a:p>
            <a:pPr algn="ctr">
              <a:spcAft>
                <a:spcPts val="400"/>
              </a:spcAft>
              <a:defRPr sz="1300" b="1">
                <a:solidFill>
                  <a:srgbClr val="FFFFFF"/>
                </a:solidFill>
              </a:defRPr>
            </a:pPr>
            <a:r>
              <a:t>🏥 Clinical Governance Framework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Structured administrative oversight spanning finance, monitoring &amp; evaluation (M&amp;E), legal compliance, and training.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846320"/>
            <a:ext cx="4114800" cy="1371600"/>
          </a:xfrm>
          <a:prstGeom prst="roundRect">
            <a:avLst/>
          </a:prstGeom>
          <a:solidFill>
            <a:srgbClr val="14203C"/>
          </a:solidFill>
          <a:ln w="1905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64592" bIns="137160"/>
          <a:lstStyle/>
          <a:p>
            <a:pPr algn="ctr">
              <a:spcAft>
                <a:spcPts val="400"/>
              </a:spcAft>
              <a:defRPr sz="1300" b="1">
                <a:solidFill>
                  <a:srgbClr val="FFFFFF"/>
                </a:solidFill>
              </a:defRPr>
            </a:pPr>
            <a:r>
              <a:t>🤝 Hospital Referral Network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Established referral tie-ups with district hospitals and tertiary care trauma centers for seamless emergency transfer.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20640" y="1737360"/>
            <a:ext cx="6309360" cy="448056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FF44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120640" y="1737360"/>
            <a:ext cx="6309360" cy="32004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230368" y="1828800"/>
            <a:ext cx="109728" cy="109728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376672" y="1828800"/>
            <a:ext cx="109728" cy="10972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522976" y="1828800"/>
            <a:ext cx="109728" cy="10972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60720" y="1773936"/>
            <a:ext cx="55778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94A3B8"/>
                </a:solidFill>
              </a:defRPr>
            </a:pPr>
            <a:r>
              <a:t>https://sankatmochan.co.in/about.php</a:t>
            </a:r>
          </a:p>
        </p:txBody>
      </p:sp>
      <p:pic>
        <p:nvPicPr>
          <p:cNvPr id="15" name="Picture 14" descr="doctors_ai_screen_abo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2057400"/>
            <a:ext cx="6309360" cy="41605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FF440D"/>
                </a:solidFill>
              </a:defRPr>
            </a:pPr>
            <a:r>
              <a:t>PLATFORM SCREEN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Pre-Hospital Care &amp; Telemedicine Consultation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Immediate clinical tele-triage during transit and emergency patient stabilization.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4114800" cy="1371600"/>
          </a:xfrm>
          <a:prstGeom prst="roundRect">
            <a:avLst/>
          </a:prstGeom>
          <a:solidFill>
            <a:srgbClr val="14203C"/>
          </a:solidFill>
          <a:ln w="1905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64592" bIns="137160"/>
          <a:lstStyle/>
          <a:p>
            <a:pPr algn="ctr">
              <a:spcAft>
                <a:spcPts val="400"/>
              </a:spcAft>
              <a:defRPr sz="1300" b="1">
                <a:solidFill>
                  <a:srgbClr val="FFFFFF"/>
                </a:solidFill>
              </a:defRPr>
            </a:pPr>
            <a:r>
              <a:t>⚡ 24/7 Tele-Triage Connectivity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Field paramedics connect via low-bandwidth video/audio to consulting specialists within &lt;8 minutes of dispatch.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291840"/>
            <a:ext cx="4114800" cy="1371600"/>
          </a:xfrm>
          <a:prstGeom prst="roundRect">
            <a:avLst/>
          </a:prstGeom>
          <a:solidFill>
            <a:srgbClr val="14203C"/>
          </a:solidFill>
          <a:ln w="12700">
            <a:solidFill>
              <a:srgbClr val="2637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64592" bIns="137160"/>
          <a:lstStyle/>
          <a:p>
            <a:pPr algn="ctr">
              <a:spcAft>
                <a:spcPts val="400"/>
              </a:spcAft>
              <a:defRPr sz="1300" b="1">
                <a:solidFill>
                  <a:srgbClr val="FFFFFF"/>
                </a:solidFill>
              </a:defRPr>
            </a:pPr>
            <a:r>
              <a:t>📊 Live Vital Signs Telemetry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Streams ECG waveforms, oxygen saturation, blood pressure, and glucose levels in real time to the doctor's screen.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846320"/>
            <a:ext cx="4114800" cy="1371600"/>
          </a:xfrm>
          <a:prstGeom prst="roundRect">
            <a:avLst/>
          </a:prstGeom>
          <a:solidFill>
            <a:srgbClr val="14203C"/>
          </a:solidFill>
          <a:ln w="19050">
            <a:solidFill>
              <a:srgbClr val="FF44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64592" bIns="137160"/>
          <a:lstStyle/>
          <a:p>
            <a:pPr algn="ctr">
              <a:spcAft>
                <a:spcPts val="400"/>
              </a:spcAft>
              <a:defRPr sz="1300" b="1">
                <a:solidFill>
                  <a:srgbClr val="FFFFFF"/>
                </a:solidFill>
              </a:defRPr>
            </a:pPr>
            <a:r>
              <a:t>🚨 Golden Hour Management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Enables physician-guided stabilization protocols for acute cardiac arrest, stroke, and trauma before hospital arrival.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20640" y="1737360"/>
            <a:ext cx="6309360" cy="448056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FF44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120640" y="1737360"/>
            <a:ext cx="6309360" cy="32004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230368" y="1828800"/>
            <a:ext cx="109728" cy="109728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376672" y="1828800"/>
            <a:ext cx="109728" cy="10972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522976" y="1828800"/>
            <a:ext cx="109728" cy="10972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60720" y="1773936"/>
            <a:ext cx="55778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94A3B8"/>
                </a:solidFill>
              </a:defRPr>
            </a:pPr>
            <a:r>
              <a:t>https://sankatmochan.co.in/Pre-Hospital-Care.php</a:t>
            </a:r>
          </a:p>
        </p:txBody>
      </p:sp>
      <p:pic>
        <p:nvPicPr>
          <p:cNvPr id="15" name="Picture 14" descr="doctors_ai_screen_telemedic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2057400"/>
            <a:ext cx="6309360" cy="41605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FF440D"/>
                </a:solidFill>
              </a:defRPr>
            </a:pPr>
            <a:r>
              <a:t>PLATFORM SCREEN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Mobile Health Vans &amp; Primary Camp Operations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Taking multi-diagnostic screening and clinical consultations directly into villages.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4114800" cy="1371600"/>
          </a:xfrm>
          <a:prstGeom prst="roundRect">
            <a:avLst/>
          </a:prstGeom>
          <a:solidFill>
            <a:srgbClr val="14203C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64592" bIns="137160"/>
          <a:lstStyle/>
          <a:p>
            <a:pPr algn="ctr">
              <a:spcAft>
                <a:spcPts val="400"/>
              </a:spcAft>
              <a:defRPr sz="1300" b="1">
                <a:solidFill>
                  <a:srgbClr val="FFFFFF"/>
                </a:solidFill>
              </a:defRPr>
            </a:pPr>
            <a:r>
              <a:t>🚐 Connected Mobile Medical Vans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Fully outfitted medical units operating across rural routes, carrying diagnostic kits, vital monitors, and satellite links.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291840"/>
            <a:ext cx="4114800" cy="1371600"/>
          </a:xfrm>
          <a:prstGeom prst="roundRect">
            <a:avLst/>
          </a:prstGeom>
          <a:solidFill>
            <a:srgbClr val="14203C"/>
          </a:solidFill>
          <a:ln w="12700">
            <a:solidFill>
              <a:srgbClr val="2637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64592" bIns="137160"/>
          <a:lstStyle/>
          <a:p>
            <a:pPr algn="ctr">
              <a:spcAft>
                <a:spcPts val="400"/>
              </a:spcAft>
              <a:defRPr sz="1300" b="1">
                <a:solidFill>
                  <a:srgbClr val="FFFFFF"/>
                </a:solidFill>
              </a:defRPr>
            </a:pPr>
            <a:r>
              <a:t>⛺ On-Ground Camp Management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Streamlined registration and triage for primary health camps, ingesting patient records directly into the central cloud MIS.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846320"/>
            <a:ext cx="4114800" cy="1371600"/>
          </a:xfrm>
          <a:prstGeom prst="roundRect">
            <a:avLst/>
          </a:prstGeom>
          <a:solidFill>
            <a:srgbClr val="14203C"/>
          </a:solidFill>
          <a:ln w="1905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64592" bIns="137160"/>
          <a:lstStyle/>
          <a:p>
            <a:pPr algn="ctr">
              <a:spcAft>
                <a:spcPts val="400"/>
              </a:spcAft>
              <a:defRPr sz="1300" b="1">
                <a:solidFill>
                  <a:srgbClr val="FFFFFF"/>
                </a:solidFill>
              </a:defRPr>
            </a:pPr>
            <a:r>
              <a:t>⚡ Instant Point-of-Care Lab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Diagnostic screening for diabetes, hypertension, and anemia delivering results on-site in &lt;15 minutes.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20640" y="1737360"/>
            <a:ext cx="6309360" cy="448056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FF44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120640" y="1737360"/>
            <a:ext cx="6309360" cy="32004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230368" y="1828800"/>
            <a:ext cx="109728" cy="109728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376672" y="1828800"/>
            <a:ext cx="109728" cy="10972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522976" y="1828800"/>
            <a:ext cx="109728" cy="10972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60720" y="1773936"/>
            <a:ext cx="55778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94A3B8"/>
                </a:solidFill>
              </a:defRPr>
            </a:pPr>
            <a:r>
              <a:t>https://sankatmochan.co.in/Mobile-Health-Vans.php</a:t>
            </a:r>
          </a:p>
        </p:txBody>
      </p:sp>
      <p:pic>
        <p:nvPicPr>
          <p:cNvPr id="15" name="Picture 14" descr="doctors_ai_screen_opera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2057400"/>
            <a:ext cx="6309360" cy="41605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FF440D"/>
                </a:solidFill>
              </a:defRPr>
            </a:pPr>
            <a:r>
              <a:t>FUNCTIONAL CAPABILITIES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6 Core Healthcare Modules Deployed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End-to-end clinical capability from emergency tele-triage to centralized EHR.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3383280" cy="2011680"/>
          </a:xfrm>
          <a:prstGeom prst="roundRect">
            <a:avLst/>
          </a:prstGeom>
          <a:solidFill>
            <a:srgbClr val="14203C"/>
          </a:solidFill>
          <a:ln w="19050">
            <a:solidFill>
              <a:srgbClr val="FF44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64592" bIns="137160"/>
          <a:lstStyle/>
          <a:p>
            <a:pPr algn="ctr">
              <a:spcAft>
                <a:spcPts val="400"/>
              </a:spcAft>
              <a:defRPr sz="1300" b="1">
                <a:solidFill>
                  <a:srgbClr val="FFFFFF"/>
                </a:solidFill>
              </a:defRPr>
            </a:pPr>
            <a:r>
              <a:t>01. AI Clinical Decision Support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Symptom parser &amp; triage rules flagging emergency red flags.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737360"/>
            <a:ext cx="3383280" cy="2011680"/>
          </a:xfrm>
          <a:prstGeom prst="roundRect">
            <a:avLst/>
          </a:prstGeom>
          <a:solidFill>
            <a:srgbClr val="14203C"/>
          </a:solidFill>
          <a:ln w="1905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64592" bIns="137160"/>
          <a:lstStyle/>
          <a:p>
            <a:pPr algn="ctr">
              <a:spcAft>
                <a:spcPts val="400"/>
              </a:spcAft>
              <a:defRPr sz="1300" b="1">
                <a:solidFill>
                  <a:srgbClr val="FFFFFF"/>
                </a:solidFill>
              </a:defRPr>
            </a:pPr>
            <a:r>
              <a:t>02. Point-of-Care Vitals Streaming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Live 6-lead ECG, SpO2, NIBP &amp; glucose telemetry to doctor cockpit.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0" y="1737360"/>
            <a:ext cx="3383280" cy="2011680"/>
          </a:xfrm>
          <a:prstGeom prst="roundRect">
            <a:avLst/>
          </a:prstGeom>
          <a:solidFill>
            <a:srgbClr val="14203C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64592" bIns="137160"/>
          <a:lstStyle/>
          <a:p>
            <a:pPr algn="ctr">
              <a:spcAft>
                <a:spcPts val="400"/>
              </a:spcAft>
              <a:defRPr sz="1300" b="1">
                <a:solidFill>
                  <a:srgbClr val="FFFFFF"/>
                </a:solidFill>
              </a:defRPr>
            </a:pPr>
            <a:r>
              <a:t>03. Speech-to-Text Clinical Notes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Hands-free dictation auto-formatting standardized SOAP consultation notes.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023360"/>
            <a:ext cx="3383280" cy="2011680"/>
          </a:xfrm>
          <a:prstGeom prst="roundRect">
            <a:avLst/>
          </a:prstGeom>
          <a:solidFill>
            <a:srgbClr val="14203C"/>
          </a:solidFill>
          <a:ln w="1905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64592" bIns="137160"/>
          <a:lstStyle/>
          <a:p>
            <a:pPr algn="ctr">
              <a:spcAft>
                <a:spcPts val="400"/>
              </a:spcAft>
              <a:defRPr sz="1300" b="1">
                <a:solidFill>
                  <a:srgbClr val="FFFFFF"/>
                </a:solidFill>
              </a:defRPr>
            </a:pPr>
            <a:r>
              <a:t>04. Centralized Patient MIS (EHR)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Cloud portal managing longitudinal medical history, lab reports &amp; prescriptions.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4023360"/>
            <a:ext cx="3383280" cy="2011680"/>
          </a:xfrm>
          <a:prstGeom prst="roundRect">
            <a:avLst/>
          </a:prstGeom>
          <a:solidFill>
            <a:srgbClr val="14203C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64592" bIns="137160"/>
          <a:lstStyle/>
          <a:p>
            <a:pPr algn="ctr">
              <a:spcAft>
                <a:spcPts val="400"/>
              </a:spcAft>
              <a:defRPr sz="1300" b="1">
                <a:solidFill>
                  <a:srgbClr val="FFFFFF"/>
                </a:solidFill>
              </a:defRPr>
            </a:pPr>
            <a:r>
              <a:t>05. Staff Clinical LMS Portal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Standardized training, triage guidelines &amp; certification for field nurses.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63840" y="4023360"/>
            <a:ext cx="3383280" cy="2011680"/>
          </a:xfrm>
          <a:prstGeom prst="roundRect">
            <a:avLst/>
          </a:prstGeom>
          <a:solidFill>
            <a:srgbClr val="14203C"/>
          </a:solidFill>
          <a:ln w="19050">
            <a:solidFill>
              <a:srgbClr val="FF44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64592" bIns="137160"/>
          <a:lstStyle/>
          <a:p>
            <a:pPr algn="ctr">
              <a:spcAft>
                <a:spcPts val="400"/>
              </a:spcAft>
              <a:defRPr sz="1300" b="1">
                <a:solidFill>
                  <a:srgbClr val="FFFFFF"/>
                </a:solidFill>
              </a:defRPr>
            </a:pPr>
            <a:r>
              <a:t>06. Hospital Referral Dispatch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Pre-arrival alerts and digital transfer summaries for tertiary trauma centers.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FF440D"/>
                </a:solidFill>
              </a:defRPr>
            </a:pPr>
            <a:r>
              <a:t>TECHNICAL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Secure, Low-Bandwidth Telehealth Infrastructure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Engineered for reliable clinical consultations even in low-connectivity rural zones.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120640" cy="2194560"/>
          </a:xfrm>
          <a:prstGeom prst="roundRect">
            <a:avLst/>
          </a:prstGeom>
          <a:solidFill>
            <a:srgbClr val="14203C"/>
          </a:solidFill>
          <a:ln w="1905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64592" bIns="137160"/>
          <a:lstStyle/>
          <a:p>
            <a:pPr algn="ctr">
              <a:spcAft>
                <a:spcPts val="400"/>
              </a:spcAft>
              <a:defRPr sz="1300" b="1">
                <a:solidFill>
                  <a:srgbClr val="FFFFFF"/>
                </a:solidFill>
              </a:defRPr>
            </a:pPr>
            <a:r>
              <a:t>⚡ Low-Bandwidth WebRTC Video &amp; Audio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• Adaptive bitrate WebRTC streaming optimized for 2G/3G/4G connectivity.</a:t>
            </a:r>
            <a:br/>
            <a:r>
              <a:t>• Sub-second synchronization of digital stethoscope audio and live ECG waveforms.</a:t>
            </a:r>
            <a:br/>
            <a:r>
              <a:t>• Local offline caching on mobile vans ensuring patient records are never lost during signal drops.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737360"/>
            <a:ext cx="5212080" cy="2194560"/>
          </a:xfrm>
          <a:prstGeom prst="roundRect">
            <a:avLst/>
          </a:prstGeom>
          <a:solidFill>
            <a:srgbClr val="14203C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64592" bIns="137160"/>
          <a:lstStyle/>
          <a:p>
            <a:pPr algn="ctr">
              <a:spcAft>
                <a:spcPts val="400"/>
              </a:spcAft>
              <a:defRPr sz="1300" b="1">
                <a:solidFill>
                  <a:srgbClr val="FFFFFF"/>
                </a:solidFill>
              </a:defRPr>
            </a:pPr>
            <a:r>
              <a:t>🧠 AI Reasoning &amp; Clinical Parser Pipeline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• Domain-trained clinical LLM recognizing regional Indian medical terminology and brand names.</a:t>
            </a:r>
            <a:br/>
            <a:r>
              <a:t>• Real-time drug-drug interaction checker preventing adverse prescription errors.</a:t>
            </a:r>
            <a:br/>
            <a:r>
              <a:t>• Automated plain-language patient summary generation in regional languages.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06240"/>
            <a:ext cx="5120640" cy="2011680"/>
          </a:xfrm>
          <a:prstGeom prst="roundRect">
            <a:avLst/>
          </a:prstGeom>
          <a:solidFill>
            <a:srgbClr val="14203C"/>
          </a:solidFill>
          <a:ln w="12700">
            <a:solidFill>
              <a:srgbClr val="2637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64592" bIns="137160"/>
          <a:lstStyle/>
          <a:p>
            <a:pPr algn="ctr">
              <a:spcAft>
                <a:spcPts val="400"/>
              </a:spcAft>
              <a:defRPr sz="1300" b="1">
                <a:solidFill>
                  <a:srgbClr val="FFFFFF"/>
                </a:solidFill>
              </a:defRPr>
            </a:pPr>
            <a:r>
              <a:t>🗄️ Enterprise MIS Database &amp; Security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• Relational PostgreSQL database with strict role-based access control (RBAC).</a:t>
            </a:r>
            <a:br/>
            <a:r>
              <a:t>• Encrypted patient health identifiers ensuring patient data privacy.</a:t>
            </a:r>
            <a:br/>
            <a:r>
              <a:t>• Continuous audit logging for all tele-consultations, prescription edits, and lab results.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4206240"/>
            <a:ext cx="5212080" cy="2011680"/>
          </a:xfrm>
          <a:prstGeom prst="roundRect">
            <a:avLst/>
          </a:prstGeom>
          <a:solidFill>
            <a:srgbClr val="14203C"/>
          </a:solidFill>
          <a:ln w="19050">
            <a:solidFill>
              <a:srgbClr val="FF44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64592" bIns="137160"/>
          <a:lstStyle/>
          <a:p>
            <a:pPr algn="ctr">
              <a:spcAft>
                <a:spcPts val="400"/>
              </a:spcAft>
              <a:defRPr sz="1300" b="1">
                <a:solidFill>
                  <a:srgbClr val="FFFFFF"/>
                </a:solidFill>
              </a:defRPr>
            </a:pPr>
            <a:r>
              <a:t>🎓 Centralized LMS Training Architecture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• Cloud-hosted Learning Management System for paramedic and health worker upskilling.</a:t>
            </a:r>
            <a:br/>
            <a:r>
              <a:t>• Interactive emergency response drills and automated clinical competency testing.</a:t>
            </a:r>
            <a:br/>
            <a:r>
              <a:t>• Ensures uniform medical protocol adherence across all rural operating territories.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731520"/>
            <a:ext cx="94484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440D"/>
                </a:solidFill>
              </a:defRPr>
            </a:pPr>
            <a:r>
              <a:t>MEASURED CLINICAL IMPACT &amp; OPERATIONAL GAINS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188720"/>
            <a:ext cx="94484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Delivering Timely, Accessible Healthcare to Every Citizen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2011680"/>
            <a:ext cx="816833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94A3B8"/>
                </a:solidFill>
              </a:defRPr>
            </a:pPr>
            <a:r>
              <a:t>Deploying the Doctors AI Assistant Service transformed frontline healthcare from disconnected, manual visits into an intelligent, data-driven clinical network.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2834640"/>
            <a:ext cx="3200400" cy="1463040"/>
          </a:xfrm>
          <a:prstGeom prst="roundRect">
            <a:avLst/>
          </a:prstGeom>
          <a:solidFill>
            <a:srgbClr val="14203C"/>
          </a:solidFill>
          <a:ln w="19050">
            <a:solidFill>
              <a:srgbClr val="FF44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/>
          <a:lstStyle/>
          <a:p>
            <a:pPr algn="ctr">
              <a:defRPr sz="2200" b="1">
                <a:solidFill>
                  <a:srgbClr val="FF440D"/>
                </a:solidFill>
              </a:defRPr>
            </a:pPr>
            <a:r>
              <a:t>&lt; 8 Min</a:t>
            </a:r>
          </a:p>
          <a:p>
            <a:pPr algn="ctr">
              <a:defRPr sz="1100" b="1">
                <a:solidFill>
                  <a:srgbClr val="FFFFFF"/>
                </a:solidFill>
              </a:defRPr>
            </a:pPr>
            <a:r>
              <a:t>Tele-Triage Response</a:t>
            </a:r>
          </a:p>
          <a:p>
            <a:pPr algn="ctr">
              <a:defRPr sz="900">
                <a:solidFill>
                  <a:srgbClr val="94A3B8"/>
                </a:solidFill>
              </a:defRPr>
            </a:pPr>
            <a:r>
              <a:t>Reduced from 45 min previously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0" y="2834640"/>
            <a:ext cx="3200400" cy="1463040"/>
          </a:xfrm>
          <a:prstGeom prst="roundRect">
            <a:avLst/>
          </a:prstGeom>
          <a:solidFill>
            <a:srgbClr val="14203C"/>
          </a:solidFill>
          <a:ln w="1905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/>
          <a:lstStyle/>
          <a:p>
            <a:pPr algn="ctr">
              <a:defRPr sz="2200" b="1">
                <a:solidFill>
                  <a:srgbClr val="14B8A6"/>
                </a:solidFill>
              </a:defRPr>
            </a:pPr>
            <a:r>
              <a:t>+60%</a:t>
            </a:r>
          </a:p>
          <a:p>
            <a:pPr algn="ctr">
              <a:defRPr sz="1100" b="1">
                <a:solidFill>
                  <a:srgbClr val="FFFFFF"/>
                </a:solidFill>
              </a:defRPr>
            </a:pPr>
            <a:r>
              <a:t>Consultation Capacity</a:t>
            </a:r>
          </a:p>
          <a:p>
            <a:pPr algn="ctr">
              <a:defRPr sz="900">
                <a:solidFill>
                  <a:srgbClr val="94A3B8"/>
                </a:solidFill>
              </a:defRPr>
            </a:pPr>
            <a:r>
              <a:t>Physicians see more patients with AI notes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19" y="2834640"/>
            <a:ext cx="3200400" cy="1463040"/>
          </a:xfrm>
          <a:prstGeom prst="roundRect">
            <a:avLst/>
          </a:prstGeom>
          <a:solidFill>
            <a:srgbClr val="14203C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/>
          <a:lstStyle/>
          <a:p>
            <a:pPr algn="ctr">
              <a:defRPr sz="2200" b="1">
                <a:solidFill>
                  <a:srgbClr val="0EA5E9"/>
                </a:solidFill>
              </a:defRPr>
            </a:pPr>
            <a:r>
              <a:t>&lt; 15 Min</a:t>
            </a:r>
          </a:p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Point-of-Care Testing</a:t>
            </a:r>
          </a:p>
          <a:p>
            <a:pPr algn="ctr">
              <a:defRPr sz="900">
                <a:solidFill>
                  <a:srgbClr val="94A3B8"/>
                </a:solidFill>
              </a:defRPr>
            </a:pPr>
            <a:r>
              <a:t>Down from 3–5 days lab latency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97280" y="4526280"/>
            <a:ext cx="3200400" cy="1463040"/>
          </a:xfrm>
          <a:prstGeom prst="roundRect">
            <a:avLst/>
          </a:prstGeom>
          <a:solidFill>
            <a:srgbClr val="14203C"/>
          </a:solidFill>
          <a:ln w="19050">
            <a:solidFill>
              <a:srgbClr val="FF44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/>
          <a:lstStyle/>
          <a:p>
            <a:pPr algn="ctr">
              <a:defRPr sz="2200" b="1">
                <a:solidFill>
                  <a:srgbClr val="FF440D"/>
                </a:solidFill>
              </a:defRPr>
            </a:pPr>
            <a:r>
              <a:t>+44%</a:t>
            </a:r>
          </a:p>
          <a:p>
            <a:pPr algn="ctr">
              <a:defRPr sz="1100" b="1">
                <a:solidFill>
                  <a:srgbClr val="FFFFFF"/>
                </a:solidFill>
              </a:defRPr>
            </a:pPr>
            <a:r>
              <a:t>Golden Hour Capture</a:t>
            </a:r>
          </a:p>
          <a:p>
            <a:pPr algn="ctr">
              <a:defRPr sz="900">
                <a:solidFill>
                  <a:srgbClr val="94A3B8"/>
                </a:solidFill>
              </a:defRPr>
            </a:pPr>
            <a:r>
              <a:t>Timely emergency hospital transfers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4526280"/>
            <a:ext cx="3200400" cy="1463040"/>
          </a:xfrm>
          <a:prstGeom prst="roundRect">
            <a:avLst/>
          </a:prstGeom>
          <a:solidFill>
            <a:srgbClr val="14203C"/>
          </a:solidFill>
          <a:ln w="1905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/>
          <a:lstStyle/>
          <a:p>
            <a:pPr algn="ctr">
              <a:defRPr sz="2200" b="1">
                <a:solidFill>
                  <a:srgbClr val="14B8A6"/>
                </a:solidFill>
              </a:defRPr>
            </a:pPr>
            <a:r>
              <a:t>100%</a:t>
            </a:r>
          </a:p>
          <a:p>
            <a:pPr algn="ctr">
              <a:defRPr sz="1100" b="1">
                <a:solidFill>
                  <a:srgbClr val="FFFFFF"/>
                </a:solidFill>
              </a:defRPr>
            </a:pPr>
            <a:r>
              <a:t>Digital Health Records</a:t>
            </a:r>
          </a:p>
          <a:p>
            <a:pPr algn="ctr">
              <a:defRPr sz="900">
                <a:solidFill>
                  <a:srgbClr val="94A3B8"/>
                </a:solidFill>
              </a:defRPr>
            </a:pPr>
            <a:r>
              <a:t>Longitudinal EHR replacing paper registers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19" y="4526280"/>
            <a:ext cx="3200400" cy="1463040"/>
          </a:xfrm>
          <a:prstGeom prst="roundRect">
            <a:avLst/>
          </a:prstGeom>
          <a:solidFill>
            <a:srgbClr val="14203C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/>
          <a:lstStyle/>
          <a:p>
            <a:pPr algn="ctr">
              <a:defRPr sz="2200" b="1">
                <a:solidFill>
                  <a:srgbClr val="0EA5E9"/>
                </a:solidFill>
              </a:defRPr>
            </a:pPr>
            <a:r>
              <a:t>500k+</a:t>
            </a:r>
          </a:p>
          <a:p>
            <a:pPr algn="ctr">
              <a:defRPr sz="1100" b="1">
                <a:solidFill>
                  <a:srgbClr val="FFFFFF"/>
                </a:solidFill>
              </a:defRPr>
            </a:pPr>
            <a:r>
              <a:t>Citizens Reached</a:t>
            </a:r>
          </a:p>
          <a:p>
            <a:pPr algn="ctr">
              <a:defRPr sz="900">
                <a:solidFill>
                  <a:srgbClr val="94A3B8"/>
                </a:solidFill>
              </a:defRPr>
            </a:pPr>
            <a:r>
              <a:t>Across UP, Bihar &amp; Jharkhand communities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6217920"/>
            <a:ext cx="94484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94A3B8"/>
                </a:solidFill>
              </a:defRPr>
            </a:pPr>
            <a:r>
              <a:t>Doctors AI Assistant Service  •  Healthcare Transformation Case Study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